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64" r:id="rId2"/>
    <p:sldId id="265" r:id="rId3"/>
    <p:sldId id="256" r:id="rId4"/>
    <p:sldId id="257" r:id="rId5"/>
    <p:sldId id="258" r:id="rId6"/>
    <p:sldId id="266" r:id="rId7"/>
    <p:sldId id="259" r:id="rId8"/>
    <p:sldId id="260" r:id="rId9"/>
    <p:sldId id="261" r:id="rId10"/>
    <p:sldId id="268" r:id="rId11"/>
    <p:sldId id="269" r:id="rId12"/>
    <p:sldId id="270" r:id="rId13"/>
    <p:sldId id="267" r:id="rId14"/>
    <p:sldId id="272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52"/>
    <p:restoredTop sz="94699"/>
  </p:normalViewPr>
  <p:slideViewPr>
    <p:cSldViewPr snapToGrid="0" snapToObjects="1">
      <p:cViewPr>
        <p:scale>
          <a:sx n="96" d="100"/>
          <a:sy n="96" d="100"/>
        </p:scale>
        <p:origin x="1944" y="5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07B20C-AF47-F04B-B9B5-7AFCD95E4EE6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C8CD53-5154-4E4C-A77A-5262066D5B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093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mi.org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ciencedirect.com/science/article/pii/S0378426623001450" TargetMode="External"/><Relationship Id="rId3" Type="http://schemas.openxmlformats.org/officeDocument/2006/relationships/hyperlink" Target="https://arxiv.org/abs/2405.19456" TargetMode="External"/><Relationship Id="rId7" Type="http://schemas.openxmlformats.org/officeDocument/2006/relationships/hyperlink" Target="https://www.researchgate.net/publication/399058094_Privacy-Preserving_On-chain_Permissioning_for_KYC-Compliant_Decentralized_Applications" TargetMode="External"/><Relationship Id="rId2" Type="http://schemas.openxmlformats.org/officeDocument/2006/relationships/hyperlink" Target="https://arxiv.org/html/2509.14448v1" TargetMode="Externa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arxiv.org/abs/2504.14345" TargetMode="External"/><Relationship Id="rId5" Type="http://schemas.openxmlformats.org/officeDocument/2006/relationships/hyperlink" Target="https://arxiv.org/abs/2407.04885" TargetMode="External"/><Relationship Id="rId4" Type="http://schemas.openxmlformats.org/officeDocument/2006/relationships/hyperlink" Target="https://arxiv.org/html/2504.12090v1" TargetMode="External"/><Relationship Id="rId9" Type="http://schemas.openxmlformats.org/officeDocument/2006/relationships/hyperlink" Target="https://arxiv.org/abs/2510.0946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TextBox 3">
            <a:extLst>
              <a:ext uri="{FF2B5EF4-FFF2-40B4-BE49-F238E27FC236}">
                <a16:creationId xmlns:a16="http://schemas.microsoft.com/office/drawing/2014/main" id="{1B0198B4-FBAA-FC08-ADEF-D6036AE95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646113"/>
            <a:ext cx="77724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Master of Business Administration in Technology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Capstone Project Topic Approval Presentation</a:t>
            </a: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endParaRPr lang="en-US" altLang="en-US" sz="1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 2024-25</a:t>
            </a:r>
          </a:p>
          <a:p>
            <a:pPr algn="ctr" eaLnBrk="1" hangingPunct="1">
              <a:spcBef>
                <a:spcPct val="0"/>
              </a:spcBef>
              <a:buFont typeface="Arial" panose="020B0604020202020204" pitchFamily="34" charset="0"/>
              <a:buNone/>
            </a:pPr>
            <a:r>
              <a:rPr lang="en-US" alt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Semester VIII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4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sz="1800" b="1"/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1400" b="1"/>
              <a:t> </a:t>
            </a:r>
          </a:p>
        </p:txBody>
      </p:sp>
      <p:pic>
        <p:nvPicPr>
          <p:cNvPr id="14338" name="Picture 5" descr="C:\Documents and Settings\sachin.arondekar\Desktop\NMIMSLogo.PNG">
            <a:extLst>
              <a:ext uri="{FF2B5EF4-FFF2-40B4-BE49-F238E27FC236}">
                <a16:creationId xmlns:a16="http://schemas.microsoft.com/office/drawing/2014/main" id="{191F8942-CC3C-6AE9-AF6A-B88E581F67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200" y="2890838"/>
            <a:ext cx="1371600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9" name="Text Box 7">
            <a:extLst>
              <a:ext uri="{FF2B5EF4-FFF2-40B4-BE49-F238E27FC236}">
                <a16:creationId xmlns:a16="http://schemas.microsoft.com/office/drawing/2014/main" id="{A6CE0A5B-5CD2-4A74-97BC-00FE289854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6450" y="4418013"/>
            <a:ext cx="4991100" cy="1952625"/>
          </a:xfrm>
          <a:prstGeom prst="rect">
            <a:avLst/>
          </a:prstGeom>
          <a:noFill/>
          <a:ln w="76200" cmpd="thickThin">
            <a:solidFill>
              <a:srgbClr val="62242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91440" rIns="137160" bIns="91440" anchor="ctr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400" b="1"/>
              <a:t>SVKM’s NMIMS</a:t>
            </a:r>
          </a:p>
          <a:p>
            <a:pPr algn="ctr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400" b="1"/>
              <a:t>Mukesh Patel School of Technology Management and Engineering, Vile Parle, Mumbai- 400056</a:t>
            </a:r>
          </a:p>
          <a:p>
            <a:pPr algn="ctr">
              <a:spcBef>
                <a:spcPct val="0"/>
              </a:spcBef>
              <a:spcAft>
                <a:spcPts val="800"/>
              </a:spcAft>
              <a:buFontTx/>
              <a:buNone/>
            </a:pPr>
            <a:endParaRPr lang="en-IN" altLang="en-US" sz="1400" b="1"/>
          </a:p>
          <a:p>
            <a:pPr algn="ctr">
              <a:spcBef>
                <a:spcPct val="0"/>
              </a:spcBef>
              <a:spcAft>
                <a:spcPts val="800"/>
              </a:spcAft>
              <a:buFontTx/>
              <a:buNone/>
            </a:pPr>
            <a:r>
              <a:rPr lang="en-IN" altLang="en-US" sz="1400" b="1"/>
              <a:t>Department of Artificial Intelligence</a:t>
            </a:r>
            <a:endParaRPr lang="en-IN" altLang="en-US" sz="1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0753AD-0058-5553-662E-D70C02D50CC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23/1/26</a:t>
            </a:r>
          </a:p>
        </p:txBody>
      </p:sp>
      <p:sp>
        <p:nvSpPr>
          <p:cNvPr id="14341" name="Slide Number Placeholder 2">
            <a:extLst>
              <a:ext uri="{FF2B5EF4-FFF2-40B4-BE49-F238E27FC236}">
                <a16:creationId xmlns:a16="http://schemas.microsoft.com/office/drawing/2014/main" id="{49046EE7-1325-9225-02B5-E465114471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C7A1E9D-622E-F54E-9694-C544FD70C320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US" altLang="en-US" sz="1200">
              <a:solidFill>
                <a:srgbClr val="89898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extBox 1">
            <a:extLst>
              <a:ext uri="{FF2B5EF4-FFF2-40B4-BE49-F238E27FC236}">
                <a16:creationId xmlns:a16="http://schemas.microsoft.com/office/drawing/2014/main" id="{F8F014FA-C592-F22E-5061-B1B76328C6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685800"/>
            <a:ext cx="8001000" cy="7048083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 PRESENTATION  ON 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en-US" b="1" dirty="0"/>
              <a:t>IntelliStake</a:t>
            </a:r>
            <a:endParaRPr lang="en-US" sz="3600" b="1" dirty="0">
              <a:latin typeface="+mj-lt"/>
              <a:ea typeface="Roboto Mono Medium" pitchFamily="34" charset="-122"/>
            </a:endParaRPr>
          </a:p>
          <a:p>
            <a:pPr algn="ctr">
              <a:spcBef>
                <a:spcPct val="0"/>
              </a:spcBef>
              <a:buNone/>
              <a:defRPr/>
            </a:pPr>
            <a:r>
              <a:rPr lang="en-US" sz="2000" b="1" dirty="0">
                <a:latin typeface="+mj-lt"/>
                <a:ea typeface="Roboto Mono Medium" pitchFamily="34" charset="-122"/>
                <a:cs typeface="Roboto Mono Medium" pitchFamily="34" charset="-120"/>
              </a:rPr>
              <a:t>The AI-Vetted Startup Investing Platform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AYUSH VAIDYA – R009 – 70512200015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DEVASHISH SHARMA – R012 – 70051220013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PIYUSH BORAKHADE – R055 - 70512300041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solidFill>
                <a:srgbClr val="FF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Under the guidance of 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Anagha Raich 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/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/>
              <a:t>			</a:t>
            </a:r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/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/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endParaRPr lang="en-US" altLang="en-US" sz="1800" dirty="0"/>
          </a:p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en-US" altLang="en-US" sz="1800" dirty="0"/>
              <a:t> 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00DCA1-26AE-FC1B-C932-05A100FA12F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23/1/26</a:t>
            </a:r>
          </a:p>
        </p:txBody>
      </p:sp>
      <p:sp>
        <p:nvSpPr>
          <p:cNvPr id="15363" name="Slide Number Placeholder 2">
            <a:extLst>
              <a:ext uri="{FF2B5EF4-FFF2-40B4-BE49-F238E27FC236}">
                <a16:creationId xmlns:a16="http://schemas.microsoft.com/office/drawing/2014/main" id="{14263BBC-BDEE-A39D-35D0-E79868D72C0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23CB23E-5B78-ED4F-AE7C-C0A29AC3DED1}" type="slidenum">
              <a:rPr lang="en-US" altLang="en-US" sz="1200">
                <a:solidFill>
                  <a:srgbClr val="898989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en-US" sz="1200">
              <a:solidFill>
                <a:srgbClr val="898989"/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0340935-62CD-9982-2F64-DFB5ABD7F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046" y="5802868"/>
            <a:ext cx="281010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Academic Year 2025–26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Accessibility: Retail locked out of top 1%.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4314" y="3167207"/>
            <a:ext cx="484466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The Information Gap &amp; Operational Vulnerability</a:t>
            </a:r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7835236"/>
            <a:ext cx="2437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Liquidity Risk: Frozen assets for 7-10y.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30109A2-9D27-AE9A-0083-8BB7819DA2FA}"/>
              </a:ext>
            </a:extLst>
          </p:cNvPr>
          <p:cNvSpPr txBox="1">
            <a:spLocks/>
          </p:cNvSpPr>
          <p:nvPr/>
        </p:nvSpPr>
        <p:spPr>
          <a:xfrm>
            <a:off x="457200" y="457200"/>
            <a:ext cx="8229600" cy="9144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dirty="0"/>
              <a:t>Problem Definition &amp; Market Gap</a:t>
            </a:r>
            <a:endParaRPr lang="en-US" sz="3600" b="1" dirty="0">
              <a:solidFill>
                <a:srgbClr val="003366"/>
              </a:solidFill>
              <a:latin typeface="Arial"/>
            </a:endParaRPr>
          </a:p>
        </p:txBody>
      </p:sp>
      <p:sp>
        <p:nvSpPr>
          <p:cNvPr id="19" name="Rectangle 1">
            <a:extLst>
              <a:ext uri="{FF2B5EF4-FFF2-40B4-BE49-F238E27FC236}">
                <a16:creationId xmlns:a16="http://schemas.microsoft.com/office/drawing/2014/main" id="{48CE05DF-C9B6-9F3F-F1D6-EFCF838109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14" y="1292588"/>
            <a:ext cx="780585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The Accessibility Crisis &amp; Systemic Gatekeeping</a:t>
            </a: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2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5808E45C-653B-099F-D325-4102683B28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14" y="1683594"/>
            <a:ext cx="8524461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Restricted Entry</a:t>
            </a:r>
            <a:r>
              <a:rPr kumimoji="0" lang="en-US" altLang="en-US" sz="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High-growth venture capital remains a "closed-loop" asset class, historically restricted to the top 1% (accredited investors), leaving the general public with no access to early-stage wealth creation.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Liquidity Trap: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Private equity investments are traditionally "illiquid," requiring a 7–10 year lock-in period with virtually no secondary market for retail participants to exit.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Operational Friction: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Manual KYC and traditional banking compliance move at "T+2" speeds, failing to meet the "T+0" instant-settlement demands of modern digital markets.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65772DDA-F69B-E533-0455-CFDEC7B74E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14" y="3536539"/>
            <a:ext cx="8124825" cy="14619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5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Pitch Deck Poisoning</a:t>
            </a:r>
            <a:r>
              <a:rPr kumimoji="0" lang="en-US" altLang="en-US" sz="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 sharp rise in AI-generated "data forgery," where founders use synthetic credentials and fabricated traction charts to inflate startup valuations.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Asymmetric Due Diligence: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Retail investors lack the multi-million dollar analytical tools used by tier-1 firms to verify messy financials and founder backgrounds.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Security Fragility: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Centralized investment desks are increasingly vulnerable to Oracle manipulation and data breaches, jeopardizing both investor funds and sensitive corporate IP.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sz="3200" dirty="0"/>
              <a:t>Literature Review (2023-2025 Synthesis)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8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dirty="0"/>
                        <a:t>Research Paper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Methodology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Finding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Strategic Insight</a:t>
                      </a:r>
                    </a:p>
                  </a:txBody>
                  <a:tcPr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VCBench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Adversarial LLM Testing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LLMs achieve 6x higher precision.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AI &gt; Human screening.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SSFF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Multi-Agent RAG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L5 founders 3.8x more likely to succeed.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Focus on founder quality.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R.A.I.S.E.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Reasoning-Based AI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Multi-step reasoning improves accuracy by 50%.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CoT is essential.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HedgeAgents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Balanced Trading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68.4% return with hedging.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Agentic hedging works.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BLM-Optimization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rPr dirty="0"/>
                        <a:t>LLM Black-</a:t>
                      </a:r>
                      <a:r>
                        <a:rPr dirty="0" err="1"/>
                        <a:t>Litterman</a:t>
                      </a:r>
                      <a:endParaRPr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Style-consistent views outperform.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AI for portfolios.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On-chain Permissioning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ZKP + SSI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Privacy-preserving KYC on public ledgers.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Compliant DeFi.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STO Secondary Markets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Real Estate STO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Tokenization provides liquidity.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Liquidity for illiquid assets.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Interpretable ML (2025)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XGBoost Ensembles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0.978 precision for exit predictions.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Arial"/>
                        </a:defRPr>
                      </a:pPr>
                      <a:r>
                        <a:t>High accuracy model.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sz="2400" u="sng" dirty="0"/>
              <a:t>System Architecture</a:t>
            </a:r>
            <a:r>
              <a:rPr sz="2400" dirty="0"/>
              <a:t>: The 'Trust-Engine'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7315200" cy="109728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366"/>
                </a:solidFill>
                <a:latin typeface="Arial"/>
              </a:defRPr>
            </a:pPr>
            <a:r>
              <a:t>1. Data Ingestion Layer</a:t>
            </a:r>
          </a:p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t>AI Agents scrape LinkedIn, GitHub &amp; Crunchbase • Verifies 'Founder Alpha'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788920"/>
            <a:ext cx="457200" cy="36576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914400" y="3200400"/>
            <a:ext cx="7315200" cy="109728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366"/>
                </a:solidFill>
                <a:latin typeface="Arial"/>
              </a:defRPr>
            </a:pPr>
            <a:r>
              <a:rPr dirty="0"/>
              <a:t>2. Evaluation Layer (The Brain)</a:t>
            </a:r>
          </a:p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rPr dirty="0"/>
              <a:t>Multimodal LLMs • Bayesian </a:t>
            </a:r>
            <a:r>
              <a:rPr dirty="0" err="1"/>
              <a:t>Upates</a:t>
            </a:r>
            <a:r>
              <a:rPr dirty="0"/>
              <a:t> • Success Probability Calculation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4343400"/>
            <a:ext cx="457200" cy="365760"/>
          </a:xfrm>
          <a:prstGeom prst="downArrow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4754880"/>
            <a:ext cx="7315200" cy="1097280"/>
          </a:xfrm>
          <a:prstGeom prst="roundRect">
            <a:avLst/>
          </a:prstGeom>
          <a:solidFill>
            <a:srgbClr val="E6F0FF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3366"/>
                </a:solidFill>
                <a:latin typeface="Arial"/>
              </a:defRPr>
            </a:pPr>
            <a:r>
              <a:t>3. Execution Layer (The Spine)</a:t>
            </a:r>
          </a:p>
          <a:p>
            <a:pPr>
              <a:defRPr sz="1400" b="0">
                <a:solidFill>
                  <a:srgbClr val="000000"/>
                </a:solidFill>
                <a:latin typeface="Arial"/>
              </a:defRPr>
            </a:pPr>
            <a:r>
              <a:t>Smart Contracts mint ERC-3643 Tokens • Milestone-Based Escrow Lock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DF4C3-564F-0468-57ED-4B78FC156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FB5F3-66C4-C96E-DA07-3FF9D2D2E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57199"/>
            <a:ext cx="8229600" cy="914400"/>
          </a:xfrm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2400" u="sng" dirty="0"/>
              <a:t>Portfolio Optimization via Black-</a:t>
            </a:r>
            <a:r>
              <a:rPr lang="en-US" sz="2400" u="sng" dirty="0" err="1"/>
              <a:t>Litterman</a:t>
            </a:r>
            <a:r>
              <a:rPr lang="en-US" sz="2400" u="sng" dirty="0"/>
              <a:t> Model</a:t>
            </a:r>
            <a:endParaRPr lang="en-US" sz="1600" u="sng" dirty="0"/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3CC30C5-7386-D7F1-ED0B-53AE521116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6774" y="4720919"/>
            <a:ext cx="8090452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Quantitative View Synthesis</a:t>
            </a:r>
            <a:r>
              <a:rPr kumimoji="0" lang="en-US" altLang="en-US" sz="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Converts qualitative AI success probabilities (1–10) into mathematical "Investor Views," bridging the gap between narrative-driven startups and data-driven finance.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Precision-Weighted Allocation: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Assigns a confidence level (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Ω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 to each startup based on the R.A.I.S.E. reasoning stability, ensuring uncertain signals do not over-influence the portfolio.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Market-Neutral Equilibrium: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Merges traditional market sector data with AI-derived "Alpha" to prevent the "all-in" fallacy and maintain a balanced, institutional-grade asset distribution.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Adaptive Rebalancing: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Dynamically updates portfolio weights as the AI Auditor flags new risks or milestones, shifting capital from high-burn risks to high-traction opportunities in real-time.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E530E5-C6F4-B07E-2369-F903241BD4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63906"/>
            <a:ext cx="7772400" cy="3457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550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u="sng" dirty="0"/>
              <a:t>AI Domain </a:t>
            </a:r>
            <a:r>
              <a:rPr dirty="0"/>
              <a:t>- Agentic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70387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Multi-Agent Swarm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46238"/>
            <a:ext cx="562690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OSINT Agent</a:t>
            </a:r>
            <a:r>
              <a:rPr lang="en-US" dirty="0"/>
              <a:t>: Cross-references public data across LinkedIn and GitHub for credential verification.</a:t>
            </a:r>
          </a:p>
          <a:p>
            <a:r>
              <a:rPr lang="en-US" b="1" dirty="0"/>
              <a:t>Financial Analyst</a:t>
            </a:r>
            <a:r>
              <a:rPr lang="en-US" dirty="0"/>
              <a:t>: Utilizes </a:t>
            </a:r>
            <a:r>
              <a:rPr lang="en-US" dirty="0" err="1"/>
              <a:t>FinBERT</a:t>
            </a:r>
            <a:r>
              <a:rPr lang="en-US" dirty="0"/>
              <a:t> to analyze burn rate, Customer Acquisition Cost (CAC), and Lifetime Value (LTV).</a:t>
            </a:r>
          </a:p>
          <a:p>
            <a:r>
              <a:rPr lang="en-US" b="1" dirty="0"/>
              <a:t>Market </a:t>
            </a:r>
            <a:r>
              <a:rPr lang="en-US" b="1" dirty="0" err="1"/>
              <a:t>Scoper</a:t>
            </a:r>
            <a:r>
              <a:rPr lang="en-US" dirty="0"/>
              <a:t>: Validates TAM/SAM/SOM claims against real-time industry reports.</a:t>
            </a:r>
          </a:p>
          <a:p>
            <a:r>
              <a:rPr lang="en-US" b="1" dirty="0"/>
              <a:t>Adversarial Auditor</a:t>
            </a:r>
            <a:r>
              <a:rPr lang="en-US" dirty="0"/>
              <a:t>: Specialized agent to detect AI-generated fake revenue charts or forged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1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Reasoning (R.A.I.S.E.)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49064"/>
            <a:ext cx="57607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Chain-of-Thought (</a:t>
            </a:r>
            <a:r>
              <a:rPr lang="en-US" b="1" dirty="0" err="1"/>
              <a:t>CoT</a:t>
            </a:r>
            <a:r>
              <a:rPr lang="en-US" b="1" dirty="0"/>
              <a:t>)</a:t>
            </a:r>
            <a:r>
              <a:rPr lang="en-US" dirty="0"/>
              <a:t>: Provides explicit, human-readable logic for every investment recommendation.</a:t>
            </a:r>
          </a:p>
          <a:p>
            <a:r>
              <a:rPr lang="en-US" b="1" dirty="0"/>
              <a:t>Memory-Augmentation</a:t>
            </a:r>
            <a:r>
              <a:rPr lang="en-US" dirty="0"/>
              <a:t>: Uses a Vector DB to store and identify historical scam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sz="2800" u="sng" dirty="0"/>
              <a:t>Finance Domain </a:t>
            </a:r>
            <a:r>
              <a:rPr sz="2800" dirty="0"/>
              <a:t>- Tokenized Equity &amp;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553404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rPr dirty="0"/>
              <a:t>Tokenization (ERC-3643)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2192409"/>
            <a:ext cx="633389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Security Token Standard</a:t>
            </a:r>
            <a:r>
              <a:rPr lang="en-US" sz="1600" dirty="0"/>
              <a:t>: Enables built-in on-chain compliance and regulatory oversight.</a:t>
            </a:r>
          </a:p>
          <a:p>
            <a:r>
              <a:rPr lang="en-US" sz="1600" b="1" dirty="0"/>
              <a:t>Identity Registry</a:t>
            </a:r>
            <a:r>
              <a:rPr lang="en-US" sz="1600" dirty="0"/>
              <a:t>: Links transactions to </a:t>
            </a:r>
            <a:r>
              <a:rPr lang="en-US" sz="1600" dirty="0" err="1"/>
              <a:t>Soulbound</a:t>
            </a:r>
            <a:r>
              <a:rPr lang="en-US" sz="1600" dirty="0"/>
              <a:t> Tokens (SBT) for permanent, private KYC.</a:t>
            </a:r>
          </a:p>
          <a:p>
            <a:r>
              <a:rPr lang="en-US" sz="1600" b="1" dirty="0"/>
              <a:t>Automated Sanctions</a:t>
            </a:r>
            <a:r>
              <a:rPr lang="en-US" sz="1600" dirty="0"/>
              <a:t>: Instantly blocks transfers to or from blacklisted addresses.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99" y="4125678"/>
            <a:ext cx="27543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rPr dirty="0"/>
              <a:t>Black-</a:t>
            </a:r>
            <a:r>
              <a:rPr dirty="0" err="1"/>
              <a:t>Litterman</a:t>
            </a:r>
            <a:r>
              <a:rPr lang="en-US" dirty="0"/>
              <a:t> Model</a:t>
            </a:r>
            <a:endParaRPr dirty="0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0DF5BCB-177D-41BC-3CFA-B0CB72BC8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4337705"/>
            <a:ext cx="6601523" cy="1600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Balanced Portfolios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Moves beyond individual stock picking to institutional-grade portfolio construction.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AI-Generated Views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Converts the AI 'Potential Score' (1–10) into a quantitative input for the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Optimization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: Aims to maximize the Sharpe ratio for diversified startup baskets.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8804"/>
            <a:ext cx="8464378" cy="914400"/>
          </a:xfrm>
        </p:spPr>
        <p:txBody>
          <a:bodyPr>
            <a:noAutofit/>
          </a:bodyPr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sz="2400" u="sng" dirty="0"/>
              <a:t>Blockchain &amp; Cybersecurity </a:t>
            </a:r>
            <a:r>
              <a:rPr sz="2400" dirty="0"/>
              <a:t>- The Fiduciary Spine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965959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t>Milestone Escrow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70797"/>
            <a:ext cx="5760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Smart Contract Gating</a:t>
            </a:r>
            <a:r>
              <a:rPr dirty="0"/>
              <a:t>: 30% initial release.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DAO Voting</a:t>
            </a:r>
            <a:r>
              <a:rPr dirty="0"/>
              <a:t>: Quarterly unlock based on deliverables.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Refunds</a:t>
            </a:r>
            <a:r>
              <a:rPr dirty="0"/>
              <a:t>: Automatic return if milestones missed.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27796"/>
            <a:ext cx="2286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3366"/>
                </a:solidFill>
                <a:latin typeface="Arial"/>
              </a:defRPr>
            </a:pPr>
            <a:r>
              <a:rPr dirty="0"/>
              <a:t>Oracle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53275"/>
            <a:ext cx="5760720" cy="9848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Proof of Reality</a:t>
            </a:r>
            <a:r>
              <a:rPr dirty="0"/>
              <a:t>: </a:t>
            </a:r>
            <a:r>
              <a:rPr u="sng" dirty="0" err="1"/>
              <a:t>Chainlink</a:t>
            </a:r>
            <a:r>
              <a:rPr dirty="0"/>
              <a:t> verifies off-chain revenue.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Reputation Staking</a:t>
            </a:r>
            <a:r>
              <a:rPr dirty="0"/>
              <a:t>: Data providers slashed for lies.</a:t>
            </a:r>
          </a:p>
          <a:p>
            <a:pPr>
              <a:spcAft>
                <a:spcPts val="600"/>
              </a:spcAft>
              <a:defRPr sz="1600" b="0">
                <a:solidFill>
                  <a:srgbClr val="000000"/>
                </a:solidFill>
                <a:latin typeface="Arial"/>
              </a:defRPr>
            </a:pPr>
            <a:r>
              <a:rPr dirty="0"/>
              <a:t>• </a:t>
            </a:r>
            <a:r>
              <a:rPr b="1" dirty="0"/>
              <a:t>Anti-Mirroring</a:t>
            </a:r>
            <a:r>
              <a:rPr dirty="0"/>
              <a:t>: AI monitors for fake data loops.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3FE64-0BE8-789B-BBFC-57770F769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E59979-BD39-0CE5-74FB-DF14070234D0}"/>
              </a:ext>
            </a:extLst>
          </p:cNvPr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Accessibility: Retail locked out of top 1%.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9B8E83-2D19-1A45-EDEB-963EA5CFFB1F}"/>
              </a:ext>
            </a:extLst>
          </p:cNvPr>
          <p:cNvSpPr txBox="1"/>
          <p:nvPr/>
        </p:nvSpPr>
        <p:spPr>
          <a:xfrm>
            <a:off x="454314" y="3167207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2973DF-0A07-8E9D-E528-13BCF91D34D9}"/>
              </a:ext>
            </a:extLst>
          </p:cNvPr>
          <p:cNvSpPr txBox="1"/>
          <p:nvPr/>
        </p:nvSpPr>
        <p:spPr>
          <a:xfrm>
            <a:off x="914400" y="7835236"/>
            <a:ext cx="2437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Liquidity Risk: Frozen assets for 7-10y.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858E7BB-B3C1-BE7F-A599-B194EEAE9D9F}"/>
              </a:ext>
            </a:extLst>
          </p:cNvPr>
          <p:cNvSpPr txBox="1">
            <a:spLocks/>
          </p:cNvSpPr>
          <p:nvPr/>
        </p:nvSpPr>
        <p:spPr>
          <a:xfrm>
            <a:off x="457200" y="302012"/>
            <a:ext cx="8229600" cy="9144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dirty="0"/>
              <a:t>Tools &amp; Technology Stack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E274D1F5-24EE-B856-8315-59F4449841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14" y="4129009"/>
            <a:ext cx="81248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5012F4F8-E52D-A336-368B-AAAC41CC15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10F3268-1D63-AF97-6798-46BA3B29CB7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DAAE80A-A189-6F5C-7806-EE37587D87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1257854"/>
              </p:ext>
            </p:extLst>
          </p:nvPr>
        </p:nvGraphicFramePr>
        <p:xfrm>
          <a:off x="639045" y="1224057"/>
          <a:ext cx="7285756" cy="4939674"/>
        </p:xfrm>
        <a:graphic>
          <a:graphicData uri="http://schemas.openxmlformats.org/drawingml/2006/table">
            <a:tbl>
              <a:tblPr/>
              <a:tblGrid>
                <a:gridCol w="1821439">
                  <a:extLst>
                    <a:ext uri="{9D8B030D-6E8A-4147-A177-3AD203B41FA5}">
                      <a16:colId xmlns:a16="http://schemas.microsoft.com/office/drawing/2014/main" val="835772340"/>
                    </a:ext>
                  </a:extLst>
                </a:gridCol>
                <a:gridCol w="1821439">
                  <a:extLst>
                    <a:ext uri="{9D8B030D-6E8A-4147-A177-3AD203B41FA5}">
                      <a16:colId xmlns:a16="http://schemas.microsoft.com/office/drawing/2014/main" val="391169256"/>
                    </a:ext>
                  </a:extLst>
                </a:gridCol>
                <a:gridCol w="1821439">
                  <a:extLst>
                    <a:ext uri="{9D8B030D-6E8A-4147-A177-3AD203B41FA5}">
                      <a16:colId xmlns:a16="http://schemas.microsoft.com/office/drawing/2014/main" val="833547512"/>
                    </a:ext>
                  </a:extLst>
                </a:gridCol>
                <a:gridCol w="1821439">
                  <a:extLst>
                    <a:ext uri="{9D8B030D-6E8A-4147-A177-3AD203B41FA5}">
                      <a16:colId xmlns:a16="http://schemas.microsoft.com/office/drawing/2014/main" val="3373499509"/>
                    </a:ext>
                  </a:extLst>
                </a:gridCol>
              </a:tblGrid>
              <a:tr h="2523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Technology/Tool Language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Category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Specific Use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Justification (Why Chosen)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219706"/>
                  </a:ext>
                </a:extLst>
              </a:tr>
              <a:tr h="68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Python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LangChain (Python)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 err="1">
                          <a:effectLst/>
                          <a:latin typeface="Google Sans Text"/>
                        </a:rPr>
                        <a:t>LangChain</a:t>
                      </a:r>
                      <a:r>
                        <a:rPr lang="en-US" sz="700" dirty="0">
                          <a:effectLst/>
                          <a:latin typeface="Google Sans Text"/>
                        </a:rPr>
                        <a:t> AI Orchestration, Financial Scoring, Sentiment, and Risk Scoring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  <a:latin typeface="Google Sans Text"/>
                        </a:rPr>
                        <a:t>Precise and real-time processing using </a:t>
                      </a:r>
                      <a:r>
                        <a:rPr lang="en-US" sz="700" b="1" dirty="0" err="1">
                          <a:effectLst/>
                          <a:latin typeface="Google Sans Text"/>
                        </a:rPr>
                        <a:t>FinBERT</a:t>
                      </a:r>
                      <a:r>
                        <a:rPr lang="en-US" sz="700" dirty="0" err="1">
                          <a:effectLst/>
                          <a:latin typeface="Google Sans Text"/>
                        </a:rPr>
                        <a:t>for</a:t>
                      </a:r>
                      <a:r>
                        <a:rPr lang="en-US" sz="700" dirty="0">
                          <a:effectLst/>
                          <a:latin typeface="Google Sans Text"/>
                        </a:rPr>
                        <a:t> financial sentiment and risk assessment.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82926"/>
                  </a:ext>
                </a:extLst>
              </a:tr>
              <a:tr h="468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Solidity (v0.8.x)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Neo4j / Hugging Face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Developing </a:t>
                      </a:r>
                      <a:r>
                        <a:rPr lang="en-US" sz="700" b="1">
                          <a:effectLst/>
                          <a:latin typeface="Google Sans Text"/>
                        </a:rPr>
                        <a:t>R.A.I.S.E.</a:t>
                      </a:r>
                      <a:r>
                        <a:rPr lang="en-US" sz="700">
                          <a:effectLst/>
                          <a:latin typeface="Google Sans Text"/>
                        </a:rPr>
                        <a:t> Logic and AI-BERT Models for pattern analysis 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Critical for verifying "Scam Patterns" and ensuring high-fidelity risk scoring.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218066"/>
                  </a:ext>
                </a:extLst>
              </a:tr>
              <a:tr h="68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Solidity (v0.8.x)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Hardhat / Pinecone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ERC-3643</a:t>
                      </a:r>
                      <a:r>
                        <a:rPr lang="en-US" sz="700">
                          <a:effectLst/>
                          <a:latin typeface="Google Sans Text"/>
                        </a:rPr>
                        <a:t> Token Standard implementation and Vector DB management 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Facilitates secure on-chain compliance and efficient retrieval of complex financial data.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0638444"/>
                  </a:ext>
                </a:extLst>
              </a:tr>
              <a:tr h="68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Solidity (v0.8.x)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Foundry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Smart Contract development and rate-stripping logic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Provides a robust, industrial-grade testing environment for fiduciary smart contracts.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5376999"/>
                  </a:ext>
                </a:extLst>
              </a:tr>
              <a:tr h="79323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React / Next.js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Ethers.js / Web3Modal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Chainlink</a:t>
                      </a:r>
                      <a:r>
                        <a:rPr lang="en-US" sz="700">
                          <a:effectLst/>
                          <a:latin typeface="Google Sans Text"/>
                        </a:rPr>
                        <a:t> Oracles integration for real-time revenue and activity monitoring 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Essential for connecting the front-end to blockchain state and verifying off-chain "Proof of Reality".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1290822"/>
                  </a:ext>
                </a:extLst>
              </a:tr>
              <a:tr h="68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AWS SageMaker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Google AI Platform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Large-scale model training and deployment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Scalable infrastructure required for hosting </a:t>
                      </a:r>
                      <a:r>
                        <a:rPr lang="en-US" sz="700" b="1">
                          <a:effectLst/>
                          <a:latin typeface="Google Sans Text"/>
                        </a:rPr>
                        <a:t>FinBERT</a:t>
                      </a:r>
                      <a:r>
                        <a:rPr lang="en-US" sz="700">
                          <a:effectLst/>
                          <a:latin typeface="Google Sans Text"/>
                        </a:rPr>
                        <a:t> and adversarial auditing agents.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3253401"/>
                  </a:ext>
                </a:extLst>
              </a:tr>
              <a:tr h="6850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b="1">
                          <a:effectLst/>
                          <a:latin typeface="Google Sans Text"/>
                        </a:rPr>
                        <a:t>IPFS / Filecoin</a:t>
                      </a:r>
                      <a:endParaRPr lang="en-US" sz="700">
                        <a:effectLst/>
                        <a:latin typeface="Google Sans Text"/>
                      </a:endParaRP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Postman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>
                          <a:effectLst/>
                          <a:latin typeface="Google Sans Text"/>
                        </a:rPr>
                        <a:t>Decentralized storage for DAO governance and audit logs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700" dirty="0">
                          <a:effectLst/>
                          <a:latin typeface="Google Sans Text"/>
                        </a:rPr>
                        <a:t>Ensures immutable and transparent storage for all project documentation and fiduciary records.</a:t>
                      </a:r>
                    </a:p>
                  </a:txBody>
                  <a:tcPr marL="33036" marR="33036" marT="16518" marB="1651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002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3264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A13631F-395D-B9FB-FF47-48C1799A9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0224"/>
            <a:ext cx="9160226" cy="5096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343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1501F4-F779-538D-E205-71AC1F0877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7" r="861" b="-1"/>
          <a:stretch>
            <a:fillRect/>
          </a:stretch>
        </p:blipFill>
        <p:spPr>
          <a:xfrm>
            <a:off x="-4960" y="847492"/>
            <a:ext cx="9148960" cy="4650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8718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A9779-E048-C0D0-76C9-2B7B5F675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F2C385-0994-9040-6F80-AE4CF9F3902E}"/>
              </a:ext>
            </a:extLst>
          </p:cNvPr>
          <p:cNvSpPr txBox="1"/>
          <p:nvPr/>
        </p:nvSpPr>
        <p:spPr>
          <a:xfrm>
            <a:off x="457200" y="1828800"/>
            <a:ext cx="2743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Accessibility: Retail locked out of top 1%.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F8DB08-AC5F-C841-43D2-9ED590C3AA69}"/>
              </a:ext>
            </a:extLst>
          </p:cNvPr>
          <p:cNvSpPr txBox="1"/>
          <p:nvPr/>
        </p:nvSpPr>
        <p:spPr>
          <a:xfrm>
            <a:off x="454314" y="3167207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7BC719-D3D9-B8CA-CEF6-BC7823831D55}"/>
              </a:ext>
            </a:extLst>
          </p:cNvPr>
          <p:cNvSpPr txBox="1"/>
          <p:nvPr/>
        </p:nvSpPr>
        <p:spPr>
          <a:xfrm>
            <a:off x="914400" y="7835236"/>
            <a:ext cx="24374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pPr>
              <a:defRPr sz="1800" b="0">
                <a:solidFill>
                  <a:srgbClr val="FFFFFF"/>
                </a:solidFill>
                <a:latin typeface="Arial"/>
              </a:defRPr>
            </a:pPr>
            <a:r>
              <a:rPr dirty="0"/>
              <a:t>Liquidity Risk: Frozen assets for 7-10y.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1CC9DCD-E895-4C96-0C8C-F08F235A7651}"/>
              </a:ext>
            </a:extLst>
          </p:cNvPr>
          <p:cNvSpPr txBox="1">
            <a:spLocks/>
          </p:cNvSpPr>
          <p:nvPr/>
        </p:nvSpPr>
        <p:spPr>
          <a:xfrm>
            <a:off x="457200" y="302012"/>
            <a:ext cx="8229600" cy="914400"/>
          </a:xfrm>
          <a:prstGeom prst="rect">
            <a:avLst/>
          </a:prstGeom>
        </p:spPr>
        <p:txBody>
          <a:bodyPr/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lang="en-US" sz="3600" dirty="0"/>
              <a:t>Project Timeline</a:t>
            </a:r>
          </a:p>
        </p:txBody>
      </p:sp>
      <p:sp>
        <p:nvSpPr>
          <p:cNvPr id="21" name="Rectangle 3">
            <a:extLst>
              <a:ext uri="{FF2B5EF4-FFF2-40B4-BE49-F238E27FC236}">
                <a16:creationId xmlns:a16="http://schemas.microsoft.com/office/drawing/2014/main" id="{FF1FD1BA-5DF4-85F2-763C-68BEEE6FD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14" y="4129009"/>
            <a:ext cx="812482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6">
            <a:extLst>
              <a:ext uri="{FF2B5EF4-FFF2-40B4-BE49-F238E27FC236}">
                <a16:creationId xmlns:a16="http://schemas.microsoft.com/office/drawing/2014/main" id="{2A7BEB58-A6BB-BDE4-43AD-232B68944C5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5F21DC4-7C5E-CCBA-61F7-01A89318CD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800" y="1013212"/>
            <a:ext cx="6502400" cy="5542776"/>
          </a:xfrm>
          <a:prstGeom prst="rect">
            <a:avLst/>
          </a:prstGeom>
        </p:spPr>
      </p:pic>
      <p:sp>
        <p:nvSpPr>
          <p:cNvPr id="10" name="TextBox 9">
            <a:hlinkClick r:id="rId3"/>
            <a:extLst>
              <a:ext uri="{FF2B5EF4-FFF2-40B4-BE49-F238E27FC236}">
                <a16:creationId xmlns:a16="http://schemas.microsoft.com/office/drawing/2014/main" id="{EB31BD82-8C5B-AB6B-D24E-FB109BD48A0E}"/>
              </a:ext>
            </a:extLst>
          </p:cNvPr>
          <p:cNvSpPr txBox="1"/>
          <p:nvPr/>
        </p:nvSpPr>
        <p:spPr>
          <a:xfrm>
            <a:off x="1320800" y="6555988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https://</a:t>
            </a:r>
            <a:r>
              <a:rPr lang="en-US" sz="1400" dirty="0" err="1"/>
              <a:t>www.pmi.org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542563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63553-1E30-6EF4-867D-56A1EF14E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37294-E1A0-F7C3-2291-9C55DDFD4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 b="1">
                <a:solidFill>
                  <a:srgbClr val="003366"/>
                </a:solidFill>
                <a:latin typeface="Arial"/>
              </a:defRPr>
            </a:pPr>
            <a:r>
              <a:rPr u="sng" dirty="0"/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465E77-12AD-8820-7300-23E786E9D363}"/>
              </a:ext>
            </a:extLst>
          </p:cNvPr>
          <p:cNvSpPr txBox="1"/>
          <p:nvPr/>
        </p:nvSpPr>
        <p:spPr>
          <a:xfrm>
            <a:off x="447172" y="1371600"/>
            <a:ext cx="8239628" cy="5101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/>
              <a:t>[1] R. Chen </a:t>
            </a:r>
            <a:r>
              <a:rPr lang="en-US" sz="1050" i="1" dirty="0"/>
              <a:t>et al</a:t>
            </a:r>
            <a:r>
              <a:rPr lang="en-US" sz="1050" dirty="0"/>
              <a:t>., “</a:t>
            </a:r>
            <a:r>
              <a:rPr lang="en-US" sz="1050" dirty="0" err="1"/>
              <a:t>VCBench</a:t>
            </a:r>
            <a:r>
              <a:rPr lang="en-US" sz="1050" dirty="0"/>
              <a:t>: Benchmarking LLMs in venture capital,”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Sep.</a:t>
            </a:r>
            <a:r>
              <a:rPr lang="en-US" sz="1050" dirty="0"/>
              <a:t> 2025.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2"/>
              </a:rPr>
              <a:t>https://arxiv.org/abs/2509.14448  </a:t>
            </a:r>
            <a:endParaRPr lang="en-US" sz="1050" dirty="0"/>
          </a:p>
          <a:p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[2] X. Wang, Y. </a:t>
            </a:r>
            <a:r>
              <a:rPr lang="en-US" sz="1050" dirty="0" err="1"/>
              <a:t>Ihlamur</a:t>
            </a:r>
            <a:r>
              <a:rPr lang="en-US" sz="1050" dirty="0"/>
              <a:t>, and F. Alican, “SSFF: Investigating LLM predictive capabilities for startup success through a multi-agent framework with enhanced explainability and performance,”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Apr.</a:t>
            </a:r>
            <a:r>
              <a:rPr lang="en-US" sz="1050" dirty="0"/>
              <a:t> 2025.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3"/>
              </a:rPr>
              <a:t>https://arxiv.org/abs/2405.19456  </a:t>
            </a:r>
            <a:endParaRPr lang="en-US" sz="1050" dirty="0"/>
          </a:p>
          <a:p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[3] J. Preuveneers, J. Ternasky, F. Alican, and Y. </a:t>
            </a:r>
            <a:r>
              <a:rPr lang="en-US" sz="1050" dirty="0" err="1"/>
              <a:t>Ihlamur</a:t>
            </a:r>
            <a:r>
              <a:rPr lang="en-US" sz="1050" dirty="0"/>
              <a:t>, “Reasoning-Based AI for Startup Evaluation (R.A.I.S.E.): A memory-augmented, multi-step decision framework,”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Apr.</a:t>
            </a:r>
            <a:r>
              <a:rPr lang="en-US" sz="1050" dirty="0"/>
              <a:t> 2025.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4"/>
              </a:rPr>
              <a:t>https://arxiv.org/abs/2504.12090  </a:t>
            </a:r>
            <a:endParaRPr lang="en-US" sz="1050" dirty="0"/>
          </a:p>
          <a:p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[4] E. </a:t>
            </a:r>
            <a:r>
              <a:rPr lang="en-US" sz="1050" dirty="0" err="1"/>
              <a:t>Ozince</a:t>
            </a:r>
            <a:r>
              <a:rPr lang="en-US" sz="1050" dirty="0"/>
              <a:t> and Y. </a:t>
            </a:r>
            <a:r>
              <a:rPr lang="en-US" sz="1050" dirty="0" err="1"/>
              <a:t>Ihlamur</a:t>
            </a:r>
            <a:r>
              <a:rPr lang="en-US" sz="1050" dirty="0"/>
              <a:t>, “Automating venture capital: Founder assessment using LLM-powered segmentation, feature engineering and automated labeling techniques,”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Jul.</a:t>
            </a:r>
            <a:r>
              <a:rPr lang="en-US" sz="1050" dirty="0"/>
              <a:t> 2024.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5"/>
              </a:rPr>
              <a:t>https://arxiv.org/abs/2407.04885  </a:t>
            </a:r>
            <a:endParaRPr lang="en-US" sz="1050" dirty="0"/>
          </a:p>
          <a:p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[5] Y. Lee </a:t>
            </a:r>
            <a:r>
              <a:rPr lang="en-US" sz="1050" i="1" dirty="0"/>
              <a:t>et al</a:t>
            </a:r>
            <a:r>
              <a:rPr lang="en-US" sz="1050" dirty="0"/>
              <a:t>., “LLM-Enhanced Black-</a:t>
            </a:r>
            <a:r>
              <a:rPr lang="en-US" sz="1050" dirty="0" err="1"/>
              <a:t>Litterman</a:t>
            </a:r>
            <a:r>
              <a:rPr lang="en-US" sz="1050" dirty="0"/>
              <a:t> portfolio optimization,”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2025.</a:t>
            </a:r>
            <a:r>
              <a:rPr lang="en-US" sz="1050" dirty="0"/>
              <a:t>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6"/>
              </a:rPr>
              <a:t>https://arxiv.org/abs/2504.14345</a:t>
            </a:r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[6] F. Piper </a:t>
            </a:r>
            <a:r>
              <a:rPr lang="en-US" sz="1050" i="1" dirty="0"/>
              <a:t>et al</a:t>
            </a:r>
            <a:r>
              <a:rPr lang="en-US" sz="1050" dirty="0"/>
              <a:t>., “Privacy-Preserving on-chain </a:t>
            </a:r>
            <a:r>
              <a:rPr lang="en-US" sz="1050" dirty="0" err="1"/>
              <a:t>Permissioning</a:t>
            </a:r>
            <a:r>
              <a:rPr lang="en-US" sz="1050" dirty="0"/>
              <a:t> for decentralized systems,”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2025.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7"/>
              </a:rPr>
              <a:t>https://www.researchgate.net/publication/399058094_Privacy-Preserving_On-chain_Permissioning_for_KYC-Compliant_Decentralized_Applications</a:t>
            </a:r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[7] J. </a:t>
            </a:r>
            <a:r>
              <a:rPr lang="en-US" sz="1050" dirty="0" err="1"/>
              <a:t>Kreppmeier</a:t>
            </a:r>
            <a:r>
              <a:rPr lang="en-US" sz="1050" dirty="0"/>
              <a:t> </a:t>
            </a:r>
            <a:r>
              <a:rPr lang="en-US" sz="1050" i="1" dirty="0"/>
              <a:t>et al</a:t>
            </a:r>
            <a:r>
              <a:rPr lang="en-US" sz="1050" dirty="0"/>
              <a:t>., “Real estate security token offerings,” </a:t>
            </a:r>
            <a:r>
              <a:rPr lang="en-US" sz="1050" i="1" dirty="0"/>
              <a:t>IEEE Security &amp; Privacy</a:t>
            </a:r>
            <a:r>
              <a:rPr lang="en-US" sz="1050" dirty="0"/>
              <a:t>, </a:t>
            </a:r>
            <a:r>
              <a:rPr lang="en-US" sz="1050" b="1" dirty="0"/>
              <a:t>vol. XX, no. X</a:t>
            </a:r>
            <a:r>
              <a:rPr lang="en-US" sz="1050" dirty="0"/>
              <a:t>, pp. XX–XX, </a:t>
            </a:r>
            <a:r>
              <a:rPr lang="en-US" sz="1050" i="1" dirty="0"/>
              <a:t>2023.</a:t>
            </a:r>
            <a:r>
              <a:rPr lang="en-US" sz="1050" dirty="0"/>
              <a:t>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8"/>
              </a:rPr>
              <a:t>https://</a:t>
            </a:r>
            <a:r>
              <a:rPr lang="en-US" sz="1050" dirty="0" err="1">
                <a:hlinkClick r:id="rId8"/>
              </a:rPr>
              <a:t>www.sciencedirect.com</a:t>
            </a:r>
            <a:r>
              <a:rPr lang="en-US" sz="1050" dirty="0">
                <a:hlinkClick r:id="rId8"/>
              </a:rPr>
              <a:t>/science/article/</a:t>
            </a:r>
            <a:r>
              <a:rPr lang="en-US" sz="1050" dirty="0" err="1">
                <a:hlinkClick r:id="rId8"/>
              </a:rPr>
              <a:t>pii</a:t>
            </a:r>
            <a:r>
              <a:rPr lang="en-US" sz="1050" dirty="0">
                <a:hlinkClick r:id="rId8"/>
              </a:rPr>
              <a:t>/S0378426623001450</a:t>
            </a:r>
            <a:br>
              <a:rPr lang="en-US" sz="1050" dirty="0"/>
            </a:br>
            <a:endParaRPr lang="en-US" sz="1050" dirty="0"/>
          </a:p>
          <a:p>
            <a:r>
              <a:rPr lang="en-US" sz="1050" dirty="0"/>
              <a:t>[8] S. Mashhadi </a:t>
            </a:r>
            <a:r>
              <a:rPr lang="en-US" sz="1050" i="1" dirty="0"/>
              <a:t>et al</a:t>
            </a:r>
            <a:r>
              <a:rPr lang="en-US" sz="1050" dirty="0"/>
              <a:t>., “Interpretable ML for predicting startup outcomes,” </a:t>
            </a:r>
            <a:r>
              <a:rPr lang="en-US" sz="1050" i="1" dirty="0" err="1"/>
              <a:t>arXiv</a:t>
            </a:r>
            <a:r>
              <a:rPr lang="en-US" sz="1050" i="1" dirty="0"/>
              <a:t> preprint</a:t>
            </a:r>
            <a:r>
              <a:rPr lang="en-US" sz="1050" dirty="0"/>
              <a:t>, </a:t>
            </a:r>
            <a:r>
              <a:rPr lang="en-US" sz="1050" i="1" dirty="0"/>
              <a:t>2025.</a:t>
            </a:r>
            <a:r>
              <a:rPr lang="en-US" sz="1050" dirty="0"/>
              <a:t> </a:t>
            </a:r>
          </a:p>
          <a:p>
            <a:r>
              <a:rPr lang="en-US" sz="1050" dirty="0"/>
              <a:t>Available: </a:t>
            </a:r>
            <a:r>
              <a:rPr lang="en-US" sz="1050" dirty="0">
                <a:hlinkClick r:id="rId9"/>
              </a:rPr>
              <a:t>https://</a:t>
            </a:r>
            <a:r>
              <a:rPr lang="en-US" sz="1050" dirty="0" err="1">
                <a:hlinkClick r:id="rId9"/>
              </a:rPr>
              <a:t>arxiv.org</a:t>
            </a:r>
            <a:r>
              <a:rPr lang="en-US" sz="1050" dirty="0">
                <a:hlinkClick r:id="rId9"/>
              </a:rPr>
              <a:t>/abs/2510.09465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0916666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410</TotalTime>
  <Words>1559</Words>
  <Application>Microsoft Macintosh PowerPoint</Application>
  <PresentationFormat>On-screen Show (4:3)</PresentationFormat>
  <Paragraphs>199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Google Sans Text</vt:lpstr>
      <vt:lpstr>Times New Roman</vt:lpstr>
      <vt:lpstr>Office Theme</vt:lpstr>
      <vt:lpstr>PowerPoint Presentation</vt:lpstr>
      <vt:lpstr>PowerPoint Presentation</vt:lpstr>
      <vt:lpstr>PowerPoint Presentation</vt:lpstr>
      <vt:lpstr>Literature Review (2023-2025 Synthesis)</vt:lpstr>
      <vt:lpstr>System Architecture: The 'Trust-Engine' Workflow</vt:lpstr>
      <vt:lpstr>Portfolio Optimization via Black-Litterman Model</vt:lpstr>
      <vt:lpstr>AI Domain - Agentic Due Diligence</vt:lpstr>
      <vt:lpstr>Finance Domain - Tokenized Equity &amp; Risk</vt:lpstr>
      <vt:lpstr>Blockchain &amp; Cybersecurity - The Fiduciary Spine</vt:lpstr>
      <vt:lpstr>PowerPoint Presentation</vt:lpstr>
      <vt:lpstr>PowerPoint Presentation</vt:lpstr>
      <vt:lpstr>PowerPoint Presentation</vt:lpstr>
      <vt:lpstr>PowerPoint Presentation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Piyush Borakhade</cp:lastModifiedBy>
  <cp:revision>74</cp:revision>
  <dcterms:created xsi:type="dcterms:W3CDTF">2013-01-27T09:14:16Z</dcterms:created>
  <dcterms:modified xsi:type="dcterms:W3CDTF">2026-02-02T09:08:36Z</dcterms:modified>
  <cp:category/>
</cp:coreProperties>
</file>